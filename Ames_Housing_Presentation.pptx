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13"/>
    <p:sldId id="258" r:id="rId14"/>
    <p:sldId id="259" r:id="rId15"/>
    <p:sldId id="260" r:id="rId16"/>
  </p:sldIdLst>
  <p:sldSz cx="12192000" cy="6858000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nGwqcHed6fQSzE0sIRUZTZLc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193466-44FF-4FF9-8C29-E9B20F2B3F6B}">
  <a:tblStyle styleId="{41193466-44FF-4FF9-8C29-E9B20F2B3F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7C60536-C245-4EC8-B382-B26A2B02CB2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49" Type="http://customschemas.google.com/relationships/presentationmetadata" Target="meta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 txBox="1">
            <a:spLocks noGrp="1"/>
          </p:cNvSpPr>
          <p:nvPr>
            <p:ph type="title"/>
          </p:nvPr>
        </p:nvSpPr>
        <p:spPr>
          <a:xfrm>
            <a:off x="441960" y="342900"/>
            <a:ext cx="9326876" cy="93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body" idx="1"/>
          </p:nvPr>
        </p:nvSpPr>
        <p:spPr>
          <a:xfrm>
            <a:off x="441960" y="1825625"/>
            <a:ext cx="11407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" name="Google Shape;1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" y="6466115"/>
            <a:ext cx="12204000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" y="1295790"/>
            <a:ext cx="4465320" cy="10352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>
            <a:spLocks noGrp="1"/>
          </p:cNvSpPr>
          <p:nvPr>
            <p:ph type="title"/>
          </p:nvPr>
        </p:nvSpPr>
        <p:spPr>
          <a:xfrm>
            <a:off x="441960" y="342900"/>
            <a:ext cx="9326876" cy="93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F26B43"/>
          </p15:clr>
        </p15:guide>
        <p15:guide id="2" pos="264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696">
          <p15:clr>
            <a:srgbClr val="F26B43"/>
          </p15:clr>
        </p15:guide>
        <p15:guide id="5" orient="horz" pos="1152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>
            <a:spLocks noGrp="1"/>
          </p:cNvSpPr>
          <p:nvPr>
            <p:ph type="title"/>
          </p:nvPr>
        </p:nvSpPr>
        <p:spPr>
          <a:xfrm>
            <a:off x="441960" y="342900"/>
            <a:ext cx="93270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  <a:buNone/>
            </a:pPr>
            <a:endParaRPr sz="4200" dirty="0">
              <a:solidFill>
                <a:srgbClr val="1C4587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060704" y="1810511"/>
            <a:ext cx="10003536" cy="449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A09E127E-1AB3-6FAE-CA5F-C5232DE01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960" y="-140700"/>
            <a:ext cx="1905000" cy="1905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  <a:latin typeface="Calibri"/>
              </a:defRPr>
            </a:pPr>
            <a:r>
              <a:t>Advanced Real Estate Price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2000" i="0">
                <a:solidFill>
                  <a:srgbClr val="000000"/>
                </a:solidFill>
                <a:latin typeface="Calibri"/>
              </a:defRPr>
            </a:pPr>
            <a:r>
              <a:t>Team: The Outliers</a:t>
            </a:r>
          </a:p>
          <a:p>
            <a:pPr algn="ctr">
              <a:spcBef>
                <a:spcPts val="800"/>
              </a:spcBef>
              <a:defRPr sz="2000" i="0">
                <a:solidFill>
                  <a:srgbClr val="000000"/>
                </a:solidFill>
                <a:latin typeface="Calibri"/>
              </a:defRPr>
            </a:pPr>
            <a:r>
              <a:t>Institution: BITS Pilani Digital</a:t>
            </a:r>
          </a:p>
          <a:p>
            <a:pPr algn="ctr">
              <a:spcBef>
                <a:spcPts val="800"/>
              </a:spcBef>
              <a:defRPr sz="2000" i="0">
                <a:solidFill>
                  <a:srgbClr val="000000"/>
                </a:solidFill>
                <a:latin typeface="Calibri"/>
              </a:defRPr>
            </a:pPr>
            <a:r>
              <a:t>Course: Advanced Apex Project 1 (2025-26)</a:t>
            </a:r>
          </a:p>
          <a:p>
            <a:pPr algn="ctr">
              <a:spcBef>
                <a:spcPts val="800"/>
              </a:spcBef>
              <a:defRPr sz="2000" i="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spcBef>
                <a:spcPts val="800"/>
              </a:spcBef>
              <a:defRPr sz="2000" i="1">
                <a:solidFill>
                  <a:srgbClr val="000000"/>
                </a:solidFill>
                <a:latin typeface="Calibri"/>
              </a:defRPr>
            </a:pPr>
            <a:r>
              <a:t>Objective: Robust ML pipeline for Ames housing price prediction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Problem Statement &amp; Business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The Challenge: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Real estate valuation is subjective and relies on heuristics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Accurate prediction is critical for homeowners, buyers, and investors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Business Goal: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Develop a data-driven model to minimize prediction error (RMSE)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Provide interpretable insights into key value drivers</a:t>
            </a:r>
          </a:p>
        </p:txBody>
      </p:sp>
      <p:pic>
        <p:nvPicPr>
          <p:cNvPr id="5" name="Picture 4" descr="Slide2_Price_Distribution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5120640" cy="18064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Methodology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1. Data Acquisition: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Extracted Ames Housing dataset (2930 records, 82 features)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2. Preprocessing: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Imputed missing values (LotFrontage median) and removed outliers (IQR method)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3. Feature Engineering: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Created 'Total_SF', 'Total_Bath', 'House_Age' and log-transformed target variable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4. Modeling: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Trained Linear, Ridge, Lasso, ElasticNet. Selected Ridge Regression (Alpha=1.0) for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Key Insights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Model Performance: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Best Model: Ridge Regression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R-squared: ~0.85 (85% of variance)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RMSE: ~$34,746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Top Drivers of Price: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1. Overall Quality (Corr: 0.80)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2. Total Sq Ft (Corr: 0.78)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3. Neighborhood premium</a:t>
            </a:r>
          </a:p>
        </p:txBody>
      </p:sp>
      <p:pic>
        <p:nvPicPr>
          <p:cNvPr id="5" name="Picture 4" descr="Slide4_Correlation_Heatmap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3120"/>
            <a:ext cx="4572000" cy="41492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Conclusion: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Model estimates prices within ~12% margin of error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Quality and Condition are the ultimate differentiators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Recommendations: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Sellers: Renovate for 'Overall Quality' ROI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Buyers: Seek older homes in developing areas</a:t>
            </a:r>
          </a:p>
          <a:p>
            <a:pPr>
              <a:spcBef>
                <a:spcPts val="2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Bef>
                <a:spcPts val="1400"/>
              </a:spcBef>
              <a:spcAft>
                <a:spcPts val="400"/>
              </a:spcAft>
              <a:defRPr sz="1800" b="1">
                <a:solidFill>
                  <a:srgbClr val="003366"/>
                </a:solidFill>
                <a:latin typeface="Calibri"/>
              </a:defRPr>
            </a:pPr>
            <a:r>
              <a:t>Future Work: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Incorporate external economic data (interest rates, inflation)</a:t>
            </a:r>
          </a:p>
          <a:p>
            <a:pPr>
              <a:spcBef>
                <a:spcPts val="400"/>
              </a:spcBef>
              <a:defRPr sz="1600" b="0">
                <a:solidFill>
                  <a:srgbClr val="000000"/>
                </a:solidFill>
                <a:latin typeface="Calibri"/>
              </a:defRPr>
            </a:pPr>
            <a:r>
              <a:t>• Experiment with XGBoost/Gradient Boosting</a:t>
            </a:r>
          </a:p>
        </p:txBody>
      </p:sp>
      <p:pic>
        <p:nvPicPr>
          <p:cNvPr id="5" name="Picture 4" descr="Slide5_Dashboard_Summary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4846320" cy="2891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TS Digital">
      <a:dk1>
        <a:srgbClr val="000000"/>
      </a:dk1>
      <a:lt1>
        <a:srgbClr val="FFFFFF"/>
      </a:lt1>
      <a:dk2>
        <a:srgbClr val="7651A1"/>
      </a:dk2>
      <a:lt2>
        <a:srgbClr val="E8E8E8"/>
      </a:lt2>
      <a:accent1>
        <a:srgbClr val="7651A1"/>
      </a:accent1>
      <a:accent2>
        <a:srgbClr val="73C2E4"/>
      </a:accent2>
      <a:accent3>
        <a:srgbClr val="EA202A"/>
      </a:accent3>
      <a:accent4>
        <a:srgbClr val="F8C62C"/>
      </a:accent4>
      <a:accent5>
        <a:srgbClr val="2B2C6C"/>
      </a:accent5>
      <a:accent6>
        <a:srgbClr val="9700FF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Arial Narrow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Singh, Manjeet (GRG-MRM)</dc:creator>
  <cp:lastModifiedBy>Janapati Naga Muni</cp:lastModifiedBy>
  <cp:revision>34</cp:revision>
  <dcterms:created xsi:type="dcterms:W3CDTF">2025-05-30T08:20:10Z</dcterms:created>
  <dcterms:modified xsi:type="dcterms:W3CDTF">2025-11-15T15:29:52Z</dcterms:modified>
</cp:coreProperties>
</file>